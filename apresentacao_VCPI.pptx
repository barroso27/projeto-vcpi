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Classificação de Sinais de Trânsito (GTSRB)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CE0"/>
                </a:solidFill>
                <a:latin typeface="Calibri"/>
              </a:rPr>
              <a:t>Data Augmentation e Ensembles de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CAD"/>
                </a:solidFill>
                <a:latin typeface="Calibri"/>
              </a:rPr>
              <a:t>Visão Computacional e Processamento de Imagem  ·  Trabalho Prático 1  ·  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O problema</a:t>
            </a:r>
            <a:r>
              <a:rPr sz="1800" b="0">
                <a:solidFill>
                  <a:srgbClr val="222A35"/>
                </a:solidFill>
              </a:rPr>
              <a:t> — GTSRB, 43 classes, objetivo e estado da arte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Fase 1</a:t>
            </a:r>
            <a:r>
              <a:rPr sz="1800" b="0">
                <a:solidFill>
                  <a:srgbClr val="222A35"/>
                </a:solidFill>
              </a:rPr>
              <a:t> — Pré-processamento e Data Augmentation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CLAHE e filtros clássicos · 7 estratégias · 2 arquiteturas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Resultados e ablações (resolução, sampler)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Fase 2</a:t>
            </a:r>
            <a:r>
              <a:rPr sz="1800" b="0">
                <a:solidFill>
                  <a:srgbClr val="222A35"/>
                </a:solidFill>
              </a:rPr>
              <a:t> — Ensembles das redes treinadas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Métodos de agregação · saturação · matriz de confusão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Conclusões</a:t>
            </a:r>
            <a:r>
              <a:rPr sz="1800" b="0">
                <a:solidFill>
                  <a:srgbClr val="222A35"/>
                </a:solidFill>
              </a:rPr>
              <a:t> e comparação com o SOTA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GTSRB</a:t>
            </a:r>
            <a:r>
              <a:rPr sz="1800" b="0">
                <a:solidFill>
                  <a:srgbClr val="222A35"/>
                </a:solidFill>
              </a:rPr>
              <a:t>: German Traffic Sign Recognition Benchmark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&gt;50 000 imagens reais, </a:t>
            </a:r>
            <a:r>
              <a:rPr sz="1600" b="1">
                <a:solidFill>
                  <a:srgbClr val="4C72B0"/>
                </a:solidFill>
              </a:rPr>
              <a:t>43 classes</a:t>
            </a:r>
            <a:r>
              <a:rPr sz="1600" b="0">
                <a:solidFill>
                  <a:srgbClr val="222A35"/>
                </a:solidFill>
              </a:rPr>
              <a:t> de sinais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Resoluções variáveis (~15–250 px), iluminação difícil, oclusões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Objetivo</a:t>
            </a:r>
            <a:r>
              <a:rPr sz="1800" b="0">
                <a:solidFill>
                  <a:srgbClr val="222A35"/>
                </a:solidFill>
              </a:rPr>
              <a:t>: maximizar a accuracy no conjunto de teste (12 630 imagens)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Estado da arte</a:t>
            </a:r>
            <a:r>
              <a:rPr sz="1800" b="0">
                <a:solidFill>
                  <a:srgbClr val="222A35"/>
                </a:solidFill>
              </a:rPr>
              <a:t>: 99,82% (Cireşan et al., 2012 — ensemble de 25 redes)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Desempenho humano reportado: ~98,8%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46320"/>
            <a:ext cx="3108960" cy="1463040"/>
          </a:xfrm>
          <a:prstGeom prst="rect">
            <a:avLst/>
          </a:prstGeom>
          <a:solidFill>
            <a:srgbClr val="EEF1F6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C72B0"/>
                </a:solidFill>
              </a:rPr>
              <a:t>43</a:t>
            </a:r>
          </a:p>
          <a:p>
            <a:pPr algn="ctr"/>
            <a:r>
              <a:rPr sz="1300">
                <a:solidFill>
                  <a:srgbClr val="555B66"/>
                </a:solidFill>
              </a:rPr>
              <a:t>classes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4846320"/>
            <a:ext cx="3108960" cy="1463040"/>
          </a:xfrm>
          <a:prstGeom prst="rect">
            <a:avLst/>
          </a:prstGeom>
          <a:solidFill>
            <a:srgbClr val="EEF1F6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C72B0"/>
                </a:solidFill>
              </a:rPr>
              <a:t>12 630</a:t>
            </a:r>
          </a:p>
          <a:p>
            <a:pPr algn="ctr"/>
            <a:r>
              <a:rPr sz="1300">
                <a:solidFill>
                  <a:srgbClr val="555B66"/>
                </a:solidFill>
              </a:rPr>
              <a:t>imagens de teste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4846320"/>
            <a:ext cx="3108960" cy="1463040"/>
          </a:xfrm>
          <a:prstGeom prst="rect">
            <a:avLst/>
          </a:prstGeom>
          <a:solidFill>
            <a:srgbClr val="EEF1F6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C72B0"/>
                </a:solidFill>
              </a:rPr>
              <a:t>99,82%</a:t>
            </a:r>
          </a:p>
          <a:p>
            <a:pPr algn="ctr"/>
            <a:r>
              <a:rPr sz="1300">
                <a:solidFill>
                  <a:srgbClr val="555B66"/>
                </a:solidFill>
              </a:rPr>
              <a:t>melhor resultado publicado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Pré-processamento — CLAHE e filtros clássicos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Comparámos filtros clássicos: equalização global, sharpen, blur, </a:t>
            </a:r>
            <a:r>
              <a:rPr sz="1800" b="1">
                <a:solidFill>
                  <a:srgbClr val="4C72B0"/>
                </a:solidFill>
              </a:rPr>
              <a:t>CLAHE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CLAHE</a:t>
            </a:r>
            <a:r>
              <a:rPr sz="1800" b="0">
                <a:solidFill>
                  <a:srgbClr val="222A35"/>
                </a:solidFill>
              </a:rPr>
              <a:t> (Contrast Limited Adaptive Histogram Equalization):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equaliza o histograma </a:t>
            </a:r>
            <a:r>
              <a:rPr sz="1600" b="1">
                <a:solidFill>
                  <a:srgbClr val="4C72B0"/>
                </a:solidFill>
              </a:rPr>
              <a:t>localmente</a:t>
            </a:r>
            <a:r>
              <a:rPr sz="1600" b="0">
                <a:solidFill>
                  <a:srgbClr val="222A35"/>
                </a:solidFill>
              </a:rPr>
              <a:t> (por blocos), com clip que evita amplificar ruído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aplicado no canal de luminância (LAB), clip=2.0, tiles 4×4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É </a:t>
            </a:r>
            <a:r>
              <a:rPr sz="1800" b="1">
                <a:solidFill>
                  <a:srgbClr val="4C72B0"/>
                </a:solidFill>
              </a:rPr>
              <a:t>determinístico</a:t>
            </a:r>
            <a:r>
              <a:rPr sz="1800" b="0">
                <a:solidFill>
                  <a:srgbClr val="222A35"/>
                </a:solidFill>
              </a:rPr>
              <a:t> → aplicado de forma coerente em treino, validação e teste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Resultado</a:t>
            </a:r>
            <a:r>
              <a:rPr sz="1800" b="0">
                <a:solidFill>
                  <a:srgbClr val="222A35"/>
                </a:solidFill>
              </a:rPr>
              <a:t>: técnicas clássicas de processamento de imagem ainda dão ganho real em deep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7 estratégias de augmentation (complexidade crescente)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7498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029200"/>
              </a:tblGrid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Estratégia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Componentes acumulados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</a:rPr>
                        <a:t>A_baseline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</a:rPr>
                        <a:t>só Resize + Normalize (controlo)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</a:rPr>
                        <a:t>B_geo_light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</a:rPr>
                        <a:t>+ RandomAffine leve (rot. ±10°, transl.)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</a:rPr>
                        <a:t>C_geo_heavy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</a:rPr>
                        <a:t>+ scale, shear, RandomPerspective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</a:rPr>
                        <a:t>D_photo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</a:rPr>
                        <a:t>+ ColorJitter (brilho/contraste/sat./hue)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</a:rPr>
                        <a:t>E_combo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</a:rPr>
                        <a:t>C + D + RandomGaussianBlur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</a:rPr>
                        <a:t>F_clahe_combo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</a:rPr>
                        <a:t>E precedido de CLAHE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A35"/>
                          </a:solidFill>
                        </a:rPr>
                        <a:t>G_full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A35"/>
                          </a:solidFill>
                        </a:rPr>
                        <a:t>F + RandomErasing (cutout)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554480"/>
            <a:ext cx="3291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Desenho incremental: cada estratégia acrescenta uma técnica, permitindo isolar o efeito de cada componente.
Sem HorizontalFlip — inverteria sinais direcionais.
Rotações ≤ ±15°.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Arquiteturas e treino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Conv_VCPI</a:t>
            </a:r>
            <a:r>
              <a:rPr sz="1800" b="0">
                <a:solidFill>
                  <a:srgbClr val="222A35"/>
                </a:solidFill>
              </a:rPr>
              <a:t> — CNN própria, estilo VGG (~332 k parâmetros)</a:t>
            </a:r>
          </a:p>
          <a:p>
            <a:pPr lvl="1">
              <a:spcAft>
                <a:spcPts val="8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3 blocos conv 3×3 + BN + ReLU + MaxPool + Dropout → GAP → FC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ResNet18</a:t>
            </a:r>
            <a:r>
              <a:rPr sz="1800" b="0">
                <a:solidFill>
                  <a:srgbClr val="222A35"/>
                </a:solidFill>
              </a:rPr>
              <a:t> — pré-treinada no ImageNet, transfer learning (~11 M parâmetros)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2B0"/>
                </a:solidFill>
                <a:latin typeface="Calibri"/>
              </a:rPr>
              <a:t>Receita de treino — 4 ingredientes: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1">
                <a:solidFill>
                  <a:srgbClr val="4C72B0"/>
                </a:solidFill>
              </a:rPr>
              <a:t>AdamW</a:t>
            </a:r>
            <a:r>
              <a:rPr sz="1600" b="0">
                <a:solidFill>
                  <a:srgbClr val="222A35"/>
                </a:solidFill>
              </a:rPr>
              <a:t> — otimizador que ajusta os pesos para reduzir o erro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1">
                <a:solidFill>
                  <a:srgbClr val="4C72B0"/>
                </a:solidFill>
              </a:rPr>
              <a:t>Redução do learning rate</a:t>
            </a:r>
            <a:r>
              <a:rPr sz="1600" b="0">
                <a:solidFill>
                  <a:srgbClr val="222A35"/>
                </a:solidFill>
              </a:rPr>
              <a:t> — passo menor quando a validação estagna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1">
                <a:solidFill>
                  <a:srgbClr val="4C72B0"/>
                </a:solidFill>
              </a:rPr>
              <a:t>Early stopping</a:t>
            </a:r>
            <a:r>
              <a:rPr sz="1600" b="0">
                <a:solidFill>
                  <a:srgbClr val="222A35"/>
                </a:solidFill>
              </a:rPr>
              <a:t> — para quando a validação deixa de melhorar (evita overfitting)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1">
                <a:solidFill>
                  <a:srgbClr val="4C72B0"/>
                </a:solidFill>
              </a:rPr>
              <a:t>Melhor checkpoint</a:t>
            </a:r>
            <a:r>
              <a:rPr sz="1600" b="0">
                <a:solidFill>
                  <a:srgbClr val="222A35"/>
                </a:solidFill>
              </a:rPr>
              <a:t> — guarda a rede com menor erro de validação, não a última época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Resultados da Fase 1</a:t>
            </a:r>
          </a:p>
        </p:txBody>
      </p:sp>
      <p:pic>
        <p:nvPicPr>
          <p:cNvPr id="5" name="Picture 4" descr="phase1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55448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4C72B0"/>
                </a:solidFill>
              </a:rPr>
              <a:t>•  </a:t>
            </a:r>
            <a:r>
              <a:rPr sz="1500" b="1">
                <a:solidFill>
                  <a:srgbClr val="4C72B0"/>
                </a:solidFill>
              </a:rPr>
              <a:t>CLAHE dá ganho real</a:t>
            </a:r>
            <a:r>
              <a:rPr sz="1500" b="0">
                <a:solidFill>
                  <a:srgbClr val="222A35"/>
                </a:solidFill>
              </a:rPr>
              <a:t>: E→F = +0,26 pp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4C72B0"/>
                </a:solidFill>
              </a:rPr>
              <a:t>•  </a:t>
            </a:r>
            <a:r>
              <a:rPr sz="1500" b="0">
                <a:solidFill>
                  <a:srgbClr val="222A35"/>
                </a:solidFill>
              </a:rPr>
              <a:t>Geo + foto + CLAHE &gt; qualquer componente isolado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4C72B0"/>
                </a:solidFill>
              </a:rPr>
              <a:t>•  </a:t>
            </a:r>
            <a:r>
              <a:rPr sz="1500" b="0">
                <a:solidFill>
                  <a:srgbClr val="222A35"/>
                </a:solidFill>
              </a:rPr>
              <a:t>RandomErasing (G) não melhorou — regularização a mais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4C72B0"/>
                </a:solidFill>
              </a:rPr>
              <a:t>•  </a:t>
            </a:r>
            <a:r>
              <a:rPr sz="1500" b="0">
                <a:solidFill>
                  <a:srgbClr val="222A35"/>
                </a:solidFill>
              </a:rPr>
              <a:t>A 48×48, a </a:t>
            </a:r>
            <a:r>
              <a:rPr sz="1500" b="1">
                <a:solidFill>
                  <a:srgbClr val="4C72B0"/>
                </a:solidFill>
              </a:rPr>
              <a:t>Conv_VCPI bate a ResNet18</a:t>
            </a:r>
            <a:r>
              <a:rPr sz="1500" b="0">
                <a:solidFill>
                  <a:srgbClr val="222A35"/>
                </a:solidFill>
              </a:rPr>
              <a:t> em todas as 7 estratégias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4C72B0"/>
                </a:solidFill>
              </a:rPr>
              <a:t>•  </a:t>
            </a:r>
            <a:r>
              <a:rPr sz="1500" b="1">
                <a:solidFill>
                  <a:srgbClr val="4C72B0"/>
                </a:solidFill>
              </a:rPr>
              <a:t>Melhor a 48×48</a:t>
            </a:r>
            <a:r>
              <a:rPr sz="1500" b="0">
                <a:solidFill>
                  <a:srgbClr val="222A35"/>
                </a:solidFill>
              </a:rPr>
              <a:t>: Conv_VCPI + F = </a:t>
            </a:r>
            <a:r>
              <a:rPr sz="1500" b="1">
                <a:solidFill>
                  <a:srgbClr val="4C72B0"/>
                </a:solidFill>
              </a:rPr>
              <a:t>99,48%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Ablação decisiva — resolução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ResNet18 a 48×48</a:t>
            </a:r>
            <a:r>
              <a:rPr sz="1800" b="0">
                <a:solidFill>
                  <a:srgbClr val="222A35"/>
                </a:solidFill>
              </a:rPr>
              <a:t>: ficava atrás da Conv_VCPI (98,98%)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ResNet18 a 224×224</a:t>
            </a:r>
            <a:r>
              <a:rPr sz="1800" b="0">
                <a:solidFill>
                  <a:srgbClr val="222A35"/>
                </a:solidFill>
              </a:rPr>
              <a:t> (resolução nativa do ImageNet): </a:t>
            </a:r>
            <a:r>
              <a:rPr sz="1800" b="1">
                <a:solidFill>
                  <a:srgbClr val="4C72B0"/>
                </a:solidFill>
              </a:rPr>
              <a:t>99,52%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+0,54 pp vs 48×48 → passa a melhor modelo individual da Fase 1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Os pesos pré-treinados só rendem perto da escala em que foram aprendidos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transfer learning não é gratuito: depende do match de resolução/domínio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Conv_VCPI a 64×64: −0,10 pp ao dobro do tempo (50% das imagens &lt; 48 px)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WeightedRandomSampler: não melhorou — desbalanceamento não é o gargalo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Conclusões da Fase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99,52%</a:t>
            </a:r>
            <a:r>
              <a:rPr sz="1800" b="0">
                <a:solidFill>
                  <a:srgbClr val="222A35"/>
                </a:solidFill>
              </a:rPr>
              <a:t> com um único modelo (ResNet18 + CLAHE a 224×224)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Fatores de maior impacto: </a:t>
            </a:r>
            <a:r>
              <a:rPr sz="1800" b="1">
                <a:solidFill>
                  <a:srgbClr val="4C72B0"/>
                </a:solidFill>
              </a:rPr>
              <a:t>CLAHE</a:t>
            </a:r>
            <a:r>
              <a:rPr sz="1800" b="0">
                <a:solidFill>
                  <a:srgbClr val="222A35"/>
                </a:solidFill>
              </a:rPr>
              <a:t>, augmentation rico, match de resolução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Erros remanescentes ~ todos por </a:t>
            </a:r>
            <a:r>
              <a:rPr sz="1800" b="1">
                <a:solidFill>
                  <a:srgbClr val="4C72B0"/>
                </a:solidFill>
              </a:rPr>
              <a:t>ambiguidade visual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sinais triangulares parecidos, limites de velocidade adjacentes, imagens degradadas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Track leakage detetado: validação satura a ~100% (não discrimina modelos)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→ Perto do tecto de um único modelo. </a:t>
            </a:r>
            <a:r>
              <a:rPr sz="1800" b="1">
                <a:solidFill>
                  <a:srgbClr val="4C72B0"/>
                </a:solidFill>
              </a:rPr>
              <a:t>Próximo passo: ensembles.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Fase 2 — porquê ensembles?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Modelos </a:t>
            </a:r>
            <a:r>
              <a:rPr sz="1800" b="1">
                <a:solidFill>
                  <a:srgbClr val="4C72B0"/>
                </a:solidFill>
              </a:rPr>
              <a:t>diversos</a:t>
            </a:r>
            <a:r>
              <a:rPr sz="1800" b="0">
                <a:solidFill>
                  <a:srgbClr val="222A35"/>
                </a:solidFill>
              </a:rPr>
              <a:t> (arquiteturas e augmentations diferentes) erram em imagens diferentes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Combinar as previsões cancela erros independentes → melhora a accuracy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1">
                <a:solidFill>
                  <a:srgbClr val="4C72B0"/>
                </a:solidFill>
              </a:rPr>
              <a:t>Pool de 17 modelos</a:t>
            </a:r>
            <a:r>
              <a:rPr sz="1800" b="0">
                <a:solidFill>
                  <a:srgbClr val="222A35"/>
                </a:solidFill>
              </a:rPr>
              <a:t> treinados na Fase 1: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14 principais (7 estratégias × 2 arquiteturas)</a:t>
            </a:r>
          </a:p>
          <a:p>
            <a:pPr lvl="1">
              <a:spcAft>
                <a:spcPts val="1000"/>
              </a:spcAft>
            </a:pPr>
            <a:r>
              <a:rPr sz="1800" b="1">
                <a:solidFill>
                  <a:srgbClr val="555B66"/>
                </a:solidFill>
              </a:rPr>
              <a:t>–  </a:t>
            </a:r>
            <a:r>
              <a:rPr sz="1600" b="0">
                <a:solidFill>
                  <a:srgbClr val="222A35"/>
                </a:solidFill>
              </a:rPr>
              <a:t>+ 3 ablações (Conv@64, Conv+WeightedSampler, ResNet18@224)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4C72B0"/>
                </a:solidFill>
              </a:rPr>
              <a:t>•  </a:t>
            </a:r>
            <a:r>
              <a:rPr sz="1800" b="0">
                <a:solidFill>
                  <a:srgbClr val="222A35"/>
                </a:solidFill>
              </a:rPr>
              <a:t>Logits calculados uma vez e guardados em cache → avaliar combinações é instantâneo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Métodos de agregação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4C72B0"/>
                </a:solidFill>
              </a:rPr>
              <a:t>•  </a:t>
            </a:r>
            <a:r>
              <a:rPr sz="1900" b="1">
                <a:solidFill>
                  <a:srgbClr val="4C72B0"/>
                </a:solidFill>
              </a:rPr>
              <a:t>Soft voting</a:t>
            </a:r>
            <a:r>
              <a:rPr sz="1900" b="0">
                <a:solidFill>
                  <a:srgbClr val="222A35"/>
                </a:solidFill>
              </a:rPr>
              <a:t> — média das probabilidades softmax e argmax (preserva a confiança)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4C72B0"/>
                </a:solidFill>
              </a:rPr>
              <a:t>•  </a:t>
            </a:r>
            <a:r>
              <a:rPr sz="1900" b="1">
                <a:solidFill>
                  <a:srgbClr val="4C72B0"/>
                </a:solidFill>
              </a:rPr>
              <a:t>Weighted</a:t>
            </a:r>
            <a:r>
              <a:rPr sz="1900" b="0">
                <a:solidFill>
                  <a:srgbClr val="222A35"/>
                </a:solidFill>
              </a:rPr>
              <a:t> — média ponderada pela accuracy individual de cada modelo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4C72B0"/>
                </a:solidFill>
              </a:rPr>
              <a:t>•  </a:t>
            </a:r>
            <a:r>
              <a:rPr sz="1900" b="1">
                <a:solidFill>
                  <a:srgbClr val="4C72B0"/>
                </a:solidFill>
              </a:rPr>
              <a:t>Hard voting</a:t>
            </a:r>
            <a:r>
              <a:rPr sz="1900" b="0">
                <a:solidFill>
                  <a:srgbClr val="222A35"/>
                </a:solidFill>
              </a:rPr>
              <a:t> — cada modelo vota na sua classe argmax; ganha a maioria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B66"/>
                </a:solidFill>
                <a:latin typeface="Calibri"/>
              </a:rPr>
              <a:t>Como os logits estão em cache, comparar métodos é só fazer contas sobre tensores.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Resultados — o ensemble bate o melhor modelo</a:t>
            </a:r>
          </a:p>
        </p:txBody>
      </p:sp>
      <p:pic>
        <p:nvPicPr>
          <p:cNvPr id="5" name="Picture 4" descr="phase2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766560" cy="2706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64592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0">
                <a:solidFill>
                  <a:srgbClr val="222A35"/>
                </a:solidFill>
              </a:rPr>
              <a:t>Melhor individual: </a:t>
            </a:r>
            <a:r>
              <a:rPr sz="1600" b="1">
                <a:solidFill>
                  <a:srgbClr val="4C72B0"/>
                </a:solidFill>
              </a:rPr>
              <a:t>99,52%</a:t>
            </a:r>
            <a:r>
              <a:rPr sz="1600" b="0">
                <a:solidFill>
                  <a:srgbClr val="222A35"/>
                </a:solidFill>
              </a:rPr>
              <a:t> (61 erros)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0">
                <a:solidFill>
                  <a:srgbClr val="222A35"/>
                </a:solidFill>
              </a:rPr>
              <a:t>Hard voting: 99,76%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0">
                <a:solidFill>
                  <a:srgbClr val="222A35"/>
                </a:solidFill>
              </a:rPr>
              <a:t>Weighted: 99,79%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1">
                <a:solidFill>
                  <a:srgbClr val="4C72B0"/>
                </a:solidFill>
              </a:rPr>
              <a:t>Soft voting (17): 99,80%</a:t>
            </a:r>
            <a:r>
              <a:rPr sz="1600" b="0">
                <a:solidFill>
                  <a:srgbClr val="222A35"/>
                </a:solidFill>
              </a:rPr>
              <a:t> — 25 erros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0">
                <a:solidFill>
                  <a:srgbClr val="222A35"/>
                </a:solidFill>
              </a:rPr>
              <a:t>Soft &gt; weighted &gt; hard</a:t>
            </a:r>
          </a:p>
          <a:p>
            <a:pPr lvl="1">
              <a:spcAft>
                <a:spcPts val="1000"/>
              </a:spcAft>
            </a:pPr>
            <a:r>
              <a:rPr sz="1600" b="1">
                <a:solidFill>
                  <a:srgbClr val="555B66"/>
                </a:solidFill>
              </a:rPr>
              <a:t>–  </a:t>
            </a:r>
            <a:r>
              <a:rPr sz="1400" b="0">
                <a:solidFill>
                  <a:srgbClr val="222A35"/>
                </a:solidFill>
              </a:rPr>
              <a:t>hard perde por descartar a confiança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Quantos modelos? Diversidade &gt; quantidade</a:t>
            </a:r>
          </a:p>
        </p:txBody>
      </p:sp>
      <p:pic>
        <p:nvPicPr>
          <p:cNvPr id="5" name="Picture 4" descr="phase2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94944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82880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0">
                <a:solidFill>
                  <a:srgbClr val="222A35"/>
                </a:solidFill>
              </a:rPr>
              <a:t>Modelos adicionados por ordem de accuracy individual (sem cherry-picking)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0">
                <a:solidFill>
                  <a:srgbClr val="222A35"/>
                </a:solidFill>
              </a:rPr>
              <a:t>A accuracy </a:t>
            </a:r>
            <a:r>
              <a:rPr sz="1600" b="1">
                <a:solidFill>
                  <a:srgbClr val="4C72B0"/>
                </a:solidFill>
              </a:rPr>
              <a:t>satura a partir de ~13 modelos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4C72B0"/>
                </a:solidFill>
              </a:rPr>
              <a:t>•  </a:t>
            </a:r>
            <a:r>
              <a:rPr sz="1600" b="0">
                <a:solidFill>
                  <a:srgbClr val="222A35"/>
                </a:solidFill>
              </a:rPr>
              <a:t>O ganho vem da </a:t>
            </a:r>
            <a:r>
              <a:rPr sz="1600" b="1">
                <a:solidFill>
                  <a:srgbClr val="4C72B0"/>
                </a:solidFill>
              </a:rPr>
              <a:t>diversidade</a:t>
            </a:r>
            <a:r>
              <a:rPr sz="1600" b="0">
                <a:solidFill>
                  <a:srgbClr val="222A35"/>
                </a:solidFill>
              </a:rPr>
              <a:t>, não do número de redes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Matriz de confusão do ensemble</a:t>
            </a:r>
          </a:p>
        </p:txBody>
      </p:sp>
      <p:pic>
        <p:nvPicPr>
          <p:cNvPr id="5" name="Picture 4" descr="phase2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61856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C72B0"/>
                </a:solidFill>
                <a:latin typeface="Calibri"/>
              </a:rPr>
              <a:t>SÍNTESE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2A35"/>
                </a:solidFill>
                <a:latin typeface="Calibri"/>
              </a:rPr>
              <a:t>Conclusão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338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4C72B0"/>
                </a:solidFill>
              </a:rPr>
              <a:t>•  </a:t>
            </a:r>
            <a:r>
              <a:rPr sz="1700" b="1">
                <a:solidFill>
                  <a:srgbClr val="4C72B0"/>
                </a:solidFill>
              </a:rPr>
              <a:t>Processamento de imagem importa</a:t>
            </a:r>
            <a:r>
              <a:rPr sz="1700" b="0">
                <a:solidFill>
                  <a:srgbClr val="222A35"/>
                </a:solidFill>
              </a:rPr>
              <a:t>: CLAHE deu ganho real; melhor estratégia = geo + foto + CLAHE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4C72B0"/>
                </a:solidFill>
              </a:rPr>
              <a:t>•  </a:t>
            </a:r>
            <a:r>
              <a:rPr sz="1700" b="1">
                <a:solidFill>
                  <a:srgbClr val="4C72B0"/>
                </a:solidFill>
              </a:rPr>
              <a:t>Resolução é decisiva no transfer learning</a:t>
            </a:r>
            <a:r>
              <a:rPr sz="1700" b="0">
                <a:solidFill>
                  <a:srgbClr val="222A35"/>
                </a:solidFill>
              </a:rPr>
              <a:t>: ResNet18 só ganha à resolução nativa (224×224)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4C72B0"/>
                </a:solidFill>
              </a:rPr>
              <a:t>•  </a:t>
            </a:r>
            <a:r>
              <a:rPr sz="1700" b="1">
                <a:solidFill>
                  <a:srgbClr val="4C72B0"/>
                </a:solidFill>
              </a:rPr>
              <a:t>Fase 1</a:t>
            </a:r>
            <a:r>
              <a:rPr sz="1700" b="0">
                <a:solidFill>
                  <a:srgbClr val="222A35"/>
                </a:solidFill>
              </a:rPr>
              <a:t> — melhor modelo individual: </a:t>
            </a:r>
            <a:r>
              <a:rPr sz="1700" b="1">
                <a:solidFill>
                  <a:srgbClr val="4C72B0"/>
                </a:solidFill>
              </a:rPr>
              <a:t>99,52%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4C72B0"/>
                </a:solidFill>
              </a:rPr>
              <a:t>•  </a:t>
            </a:r>
            <a:r>
              <a:rPr sz="1700" b="1">
                <a:solidFill>
                  <a:srgbClr val="4C72B0"/>
                </a:solidFill>
              </a:rPr>
              <a:t>Fase 2</a:t>
            </a:r>
            <a:r>
              <a:rPr sz="1700" b="0">
                <a:solidFill>
                  <a:srgbClr val="222A35"/>
                </a:solidFill>
              </a:rPr>
              <a:t> — ensemble soft voting de redes diversas: </a:t>
            </a:r>
            <a:r>
              <a:rPr sz="1700" b="1">
                <a:solidFill>
                  <a:srgbClr val="4C72B0"/>
                </a:solidFill>
              </a:rPr>
              <a:t>99,80%</a:t>
            </a:r>
            <a:r>
              <a:rPr sz="1700" b="0">
                <a:solidFill>
                  <a:srgbClr val="222A35"/>
                </a:solidFill>
              </a:rPr>
              <a:t> (+0,28 pp)</a:t>
            </a:r>
          </a:p>
          <a:p>
            <a:pPr lvl="1">
              <a:spcAft>
                <a:spcPts val="1100"/>
              </a:spcAft>
            </a:pPr>
            <a:r>
              <a:rPr sz="1700" b="1">
                <a:solidFill>
                  <a:srgbClr val="555B66"/>
                </a:solidFill>
              </a:rPr>
              <a:t>–  </a:t>
            </a:r>
            <a:r>
              <a:rPr sz="1500" b="0">
                <a:solidFill>
                  <a:srgbClr val="222A35"/>
                </a:solidFill>
              </a:rPr>
              <a:t>ao nível do SOTA (99,82%) — ~2 imagens de diferença; o SOTA é também um ensemble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4C72B0"/>
                </a:solidFill>
              </a:rPr>
              <a:t>•  </a:t>
            </a:r>
            <a:r>
              <a:rPr sz="1700" b="0">
                <a:solidFill>
                  <a:srgbClr val="222A35"/>
                </a:solidFill>
              </a:rPr>
              <a:t>O ganho vem da </a:t>
            </a:r>
            <a:r>
              <a:rPr sz="1700" b="1">
                <a:solidFill>
                  <a:srgbClr val="4C72B0"/>
                </a:solidFill>
              </a:rPr>
              <a:t>diversidade</a:t>
            </a:r>
            <a:r>
              <a:rPr sz="1700" b="0">
                <a:solidFill>
                  <a:srgbClr val="222A35"/>
                </a:solidFill>
              </a:rPr>
              <a:t> das redes e </a:t>
            </a:r>
            <a:r>
              <a:rPr sz="1700" b="1">
                <a:solidFill>
                  <a:srgbClr val="4C72B0"/>
                </a:solidFill>
              </a:rPr>
              <a:t>satura a poucos modelos</a:t>
            </a:r>
            <a:r>
              <a:rPr sz="1700" b="0">
                <a:solidFill>
                  <a:srgbClr val="222A35"/>
                </a:solidFill>
              </a:rPr>
              <a:t> (~13)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4C72B0"/>
                </a:solidFill>
              </a:rPr>
              <a:t>•  </a:t>
            </a:r>
            <a:r>
              <a:rPr sz="1700" b="1">
                <a:solidFill>
                  <a:srgbClr val="4C72B0"/>
                </a:solidFill>
              </a:rPr>
              <a:t>Trabalho futuro</a:t>
            </a:r>
            <a:r>
              <a:rPr sz="1700" b="0">
                <a:solidFill>
                  <a:srgbClr val="222A35"/>
                </a:solidFill>
              </a:rPr>
              <a:t>: Test-Time Augmentation · split track-aware · Spatial Transformer 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CE0"/>
                </a:solidFill>
                <a:latin typeface="Calibri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CAD"/>
                </a:solidFill>
                <a:latin typeface="Calibri"/>
              </a:rPr>
              <a:t>Visão Computacional e Processamento de Imagem  ·  Trabalho Prático 1  ·  Junho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